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8"/>
  </p:notesMasterIdLst>
  <p:handoutMasterIdLst>
    <p:handoutMasterId r:id="rId9"/>
  </p:handoutMasterIdLst>
  <p:sldIdLst>
    <p:sldId id="835" r:id="rId2"/>
    <p:sldId id="257" r:id="rId3"/>
    <p:sldId id="836" r:id="rId4"/>
    <p:sldId id="837" r:id="rId5"/>
    <p:sldId id="838" r:id="rId6"/>
    <p:sldId id="834" r:id="rId7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 varScale="1">
        <p:scale>
          <a:sx n="117" d="100"/>
          <a:sy n="117" d="100"/>
        </p:scale>
        <p:origin x="1626" y="120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C5185-B6F1-43AC-B74F-79C86D76244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03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OpenMC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v0.15.3 Depletion – Restart Issue (CE/LI .vs. CE/CM)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Reactor Technology Integration Group (</a:t>
            </a:r>
            <a:r>
              <a:rPr lang="en-US" altLang="ko-KR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Taesuk Oh</a:t>
            </a: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&amp; Engineering Physics (NEEP)</a:t>
            </a:r>
          </a:p>
          <a:p>
            <a:r>
              <a:rPr lang="en-US" altLang="ko-KR" sz="1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Wisconsin-Madison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487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 &amp; Objectives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Often, the depletion simulation using </a:t>
            </a:r>
            <a:r>
              <a:rPr lang="en-US" altLang="ko-KR" dirty="0" err="1"/>
              <a:t>OpenMC</a:t>
            </a:r>
            <a:r>
              <a:rPr lang="en-US" altLang="ko-KR" dirty="0"/>
              <a:t> is halted (mostly due to wall clock issue)</a:t>
            </a:r>
          </a:p>
          <a:p>
            <a:pPr lvl="1"/>
            <a:r>
              <a:rPr lang="en-US" altLang="ko-KR" dirty="0"/>
              <a:t>Since depletion calculation is very expensive (especially for </a:t>
            </a:r>
            <a:r>
              <a:rPr lang="en-US" altLang="ko-KR" dirty="0" err="1"/>
              <a:t>OpenMC</a:t>
            </a:r>
            <a:r>
              <a:rPr lang="en-US" altLang="ko-KR" dirty="0"/>
              <a:t>), we want to restart it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It is quite the standard to employ Predictor-Corrector scheme in depletion</a:t>
            </a:r>
          </a:p>
          <a:p>
            <a:pPr lvl="1"/>
            <a:r>
              <a:rPr lang="en-US" altLang="ko-KR" dirty="0"/>
              <a:t>Two different (most popular) approaches have been considered: CE/LI .vs. CE/CM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Regardless of the depletion scheme, the result (</a:t>
            </a:r>
            <a:r>
              <a:rPr lang="en-US" altLang="ko-KR" dirty="0" err="1"/>
              <a:t>keff</a:t>
            </a:r>
            <a:r>
              <a:rPr lang="en-US" altLang="ko-KR" dirty="0"/>
              <a:t> depletion curve) should be similar</a:t>
            </a:r>
          </a:p>
          <a:p>
            <a:pPr lvl="1"/>
            <a:r>
              <a:rPr lang="en-US" altLang="ko-KR" dirty="0"/>
              <a:t>Also, need to support appropriate depletion restart feature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A54311-5DC7-CF5E-EE53-60146D72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6" y="2420888"/>
            <a:ext cx="4424239" cy="24482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B14BA4-CEC4-5BFB-F887-2A4236A0D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705" y="2420888"/>
            <a:ext cx="4597724" cy="244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500D1-6EBE-50D3-4296-FB45D05C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Restart Feature in </a:t>
            </a:r>
            <a:r>
              <a:rPr lang="en-US" dirty="0" err="1"/>
              <a:t>OpenMC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E6B4C-BC0B-BB04-4B7A-5E21E6A7D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‘depletion_results.h5’ file</a:t>
            </a:r>
          </a:p>
          <a:p>
            <a:pPr lvl="1"/>
            <a:r>
              <a:rPr lang="en-US" dirty="0"/>
              <a:t>Load the previous depletion result (the name could differ; user specified)</a:t>
            </a:r>
          </a:p>
          <a:p>
            <a:pPr lvl="1"/>
            <a:r>
              <a:rPr lang="en-US" dirty="0"/>
              <a:t>Use the keyword ‘</a:t>
            </a:r>
            <a:r>
              <a:rPr lang="en-US" dirty="0" err="1"/>
              <a:t>prev_results</a:t>
            </a:r>
            <a:r>
              <a:rPr lang="en-US" dirty="0"/>
              <a:t>’ in the </a:t>
            </a:r>
            <a:r>
              <a:rPr lang="en-US" dirty="0" err="1"/>
              <a:t>openmc.deplete</a:t>
            </a:r>
            <a:r>
              <a:rPr lang="en-US" dirty="0"/>
              <a:t>. </a:t>
            </a:r>
            <a:r>
              <a:rPr lang="en-US" dirty="0" err="1"/>
              <a:t>CoupledOperator</a:t>
            </a:r>
            <a:r>
              <a:rPr lang="en-US" dirty="0"/>
              <a:t>(...)</a:t>
            </a:r>
          </a:p>
          <a:p>
            <a:pPr lvl="1"/>
            <a:r>
              <a:rPr lang="en-US" dirty="0"/>
              <a:t>Use the keyword ‘</a:t>
            </a:r>
            <a:r>
              <a:rPr lang="en-US" dirty="0" err="1"/>
              <a:t>continue_timesteps</a:t>
            </a:r>
            <a:r>
              <a:rPr lang="en-US" dirty="0"/>
              <a:t>’ in the </a:t>
            </a:r>
            <a:r>
              <a:rPr lang="en-US" dirty="0" err="1"/>
              <a:t>openmc.deplete.CECMIntegrator</a:t>
            </a:r>
            <a:r>
              <a:rPr lang="en-US" dirty="0"/>
              <a:t>(…)</a:t>
            </a:r>
          </a:p>
          <a:p>
            <a:pPr lvl="1"/>
            <a:endParaRPr lang="en-US" dirty="0"/>
          </a:p>
          <a:p>
            <a:r>
              <a:rPr lang="en-US" dirty="0"/>
              <a:t>The following is part of the script for running restart depletion: </a:t>
            </a:r>
          </a:p>
          <a:p>
            <a:pPr lvl="1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61F7E-4320-679B-DA7C-999BA8D64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ADB28-392D-D332-4D62-71A205042FCF}"/>
              </a:ext>
            </a:extLst>
          </p:cNvPr>
          <p:cNvSpPr txBox="1"/>
          <p:nvPr/>
        </p:nvSpPr>
        <p:spPr>
          <a:xfrm>
            <a:off x="158153" y="2560143"/>
            <a:ext cx="87782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2) Load previous depletion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prev_results</a:t>
            </a:r>
            <a:r>
              <a:rPr lang="en-US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openmc.deplete.Results</a:t>
            </a:r>
            <a:r>
              <a:rPr lang="en-US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("depletion_results.h5")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6) Operator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CHAIN_FILE = "/home/toh8/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/nuclear-data/chains/chain_endfb71_sfr_Lithium6_v2.xml“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operator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openmc.deplete.CoupledOperator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(model,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chain_file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=CHAIN_FILE,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normalization_mode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="fission-q", </a:t>
            </a:r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prev_results</a:t>
            </a:r>
            <a:r>
              <a:rPr lang="en-US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prev_results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7) Integrator (CECM)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-------------------------------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integrator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openmc.deplete.CECMIntegrator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(operator,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time_steps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power=TOTAL_POWER,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timestep_units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="d", solver="cram48", </a:t>
            </a:r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continue_timesteps</a:t>
            </a:r>
            <a:r>
              <a:rPr lang="en-US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02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608F6-8752-155F-DD46-E722D2F3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0A2A50-B62C-D35B-4665-F77CBF3C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NaCl-UCl</a:t>
            </a:r>
            <a:r>
              <a:rPr lang="en-US" baseline="-25000" dirty="0"/>
              <a:t>3</a:t>
            </a:r>
            <a:r>
              <a:rPr lang="en-US" dirty="0"/>
              <a:t> Salt considered (Always URR Off)</a:t>
            </a:r>
          </a:p>
          <a:p>
            <a:pPr lvl="1"/>
            <a:r>
              <a:rPr lang="en-US" dirty="0"/>
              <a:t>Infinite pool geometry, Inactive cycles: 50 / Active cycles: 200 / Histories per cycle: 100k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94579-8A5C-D381-EF50-8DF475C8E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3B40B-BFB5-9446-6186-59596C02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73" y="1484784"/>
            <a:ext cx="6840760" cy="487907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A659192-D5F0-A8AB-E0E4-B8B083342EB8}"/>
              </a:ext>
            </a:extLst>
          </p:cNvPr>
          <p:cNvCxnSpPr/>
          <p:nvPr/>
        </p:nvCxnSpPr>
        <p:spPr>
          <a:xfrm flipH="1">
            <a:off x="5004048" y="2924944"/>
            <a:ext cx="216024" cy="432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344EA7-54AA-DC6C-0DF6-45682D786379}"/>
              </a:ext>
            </a:extLst>
          </p:cNvPr>
          <p:cNvSpPr txBox="1"/>
          <p:nvPr/>
        </p:nvSpPr>
        <p:spPr>
          <a:xfrm>
            <a:off x="5195580" y="2670825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Point of HALT/RESTART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6E7CE-F136-CF90-3063-ECAD702BC2EC}"/>
              </a:ext>
            </a:extLst>
          </p:cNvPr>
          <p:cNvSpPr txBox="1"/>
          <p:nvPr/>
        </p:nvSpPr>
        <p:spPr>
          <a:xfrm>
            <a:off x="7020272" y="3848622"/>
            <a:ext cx="1337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Inconsistent</a:t>
            </a:r>
          </a:p>
        </p:txBody>
      </p:sp>
    </p:spTree>
    <p:extLst>
      <p:ext uri="{BB962C8B-B14F-4D97-AF65-F5344CB8AC3E}">
        <p14:creationId xmlns:p14="http://schemas.microsoft.com/office/powerpoint/2010/main" val="22895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68749-7841-E28D-641D-9DA9C58A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75EFB-734F-B7B8-358C-BD83EF0B8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6" y="5373216"/>
            <a:ext cx="8928992" cy="1127070"/>
          </a:xfrm>
        </p:spPr>
        <p:txBody>
          <a:bodyPr/>
          <a:lstStyle/>
          <a:p>
            <a:r>
              <a:rPr lang="en-US" dirty="0"/>
              <a:t>Could see that CE/LI does not show consistent depletion result when ‘Restart’ option used</a:t>
            </a:r>
          </a:p>
          <a:p>
            <a:pPr lvl="1"/>
            <a:r>
              <a:rPr lang="en-US" dirty="0"/>
              <a:t>On the other hand, CE/CM option shows consistent depletion result for ‘Restart’ case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Maybe, there might be a bug for running CE/LI depletion in ‘Restart’ mode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9BA72-9DAB-BFF4-6DD2-DE8BDB975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A5AE6-EF62-7181-9EEC-C4455A4BF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791328"/>
            <a:ext cx="6336704" cy="451956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0DBB25D-E06C-5AD8-508F-BECC388314CF}"/>
              </a:ext>
            </a:extLst>
          </p:cNvPr>
          <p:cNvCxnSpPr>
            <a:cxnSpLocks/>
          </p:cNvCxnSpPr>
          <p:nvPr/>
        </p:nvCxnSpPr>
        <p:spPr>
          <a:xfrm flipH="1">
            <a:off x="3419872" y="1844824"/>
            <a:ext cx="576064" cy="164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341E01-847F-6364-0400-56057D0812C9}"/>
              </a:ext>
            </a:extLst>
          </p:cNvPr>
          <p:cNvSpPr txBox="1"/>
          <p:nvPr/>
        </p:nvSpPr>
        <p:spPr>
          <a:xfrm>
            <a:off x="3995936" y="1619659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Point of HALT/RESTART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AF5AA-D6D9-995B-6AC7-C88953CEFE14}"/>
              </a:ext>
            </a:extLst>
          </p:cNvPr>
          <p:cNvSpPr txBox="1"/>
          <p:nvPr/>
        </p:nvSpPr>
        <p:spPr>
          <a:xfrm>
            <a:off x="5868144" y="3573016"/>
            <a:ext cx="1188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</a:rPr>
              <a:t>Consistent</a:t>
            </a:r>
          </a:p>
        </p:txBody>
      </p:sp>
    </p:spTree>
    <p:extLst>
      <p:ext uri="{BB962C8B-B14F-4D97-AF65-F5344CB8AC3E}">
        <p14:creationId xmlns:p14="http://schemas.microsoft.com/office/powerpoint/2010/main" val="280759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E1FE-9A39-4830-832B-4A93BF34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16848-92F6-45BC-BB4E-7936CF3D9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2BD66-4B5F-4628-ABD5-758509CE83AF}"/>
              </a:ext>
            </a:extLst>
          </p:cNvPr>
          <p:cNvSpPr txBox="1"/>
          <p:nvPr/>
        </p:nvSpPr>
        <p:spPr>
          <a:xfrm>
            <a:off x="3384723" y="5623708"/>
            <a:ext cx="237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Any Questions?</a:t>
            </a:r>
            <a:endParaRPr lang="ko-KR" altLang="en-US" sz="2400" b="1" dirty="0"/>
          </a:p>
        </p:txBody>
      </p:sp>
      <p:pic>
        <p:nvPicPr>
          <p:cNvPr id="1030" name="Picture 6" descr="Bucky Badger - Wikipedia">
            <a:extLst>
              <a:ext uri="{FF2B5EF4-FFF2-40B4-BE49-F238E27FC236}">
                <a16:creationId xmlns:a16="http://schemas.microsoft.com/office/drawing/2014/main" id="{1E705904-CF09-66E4-D332-8DA5BE18F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9" y="980728"/>
            <a:ext cx="3150697" cy="404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E222C4B-1BD1-211E-0112-EA3206E5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88" y="1453425"/>
            <a:ext cx="4788076" cy="326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69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27936</TotalTime>
  <Words>455</Words>
  <Application>Microsoft Office PowerPoint</Application>
  <PresentationFormat>화면 슬라이드 쇼(4:3)</PresentationFormat>
  <Paragraphs>72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Euclid</vt:lpstr>
      <vt:lpstr>맑은 고딕</vt:lpstr>
      <vt:lpstr>Arial</vt:lpstr>
      <vt:lpstr>Book Antiqua</vt:lpstr>
      <vt:lpstr>Courier New</vt:lpstr>
      <vt:lpstr>Times New Roman</vt:lpstr>
      <vt:lpstr>RDTL_PPT_Template_(20%_cooler)</vt:lpstr>
      <vt:lpstr>OpenMC v0.15.3 Depletion – Restart Issue (CE/LI .vs. CE/CM)</vt:lpstr>
      <vt:lpstr>Motivation &amp; Objectives</vt:lpstr>
      <vt:lpstr>Restart Feature in OpenMC</vt:lpstr>
      <vt:lpstr>Numerical Results</vt:lpstr>
      <vt:lpstr>Numerical 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780</cp:revision>
  <cp:lastPrinted>2014-09-26T06:44:14Z</cp:lastPrinted>
  <dcterms:created xsi:type="dcterms:W3CDTF">2013-05-26T12:21:08Z</dcterms:created>
  <dcterms:modified xsi:type="dcterms:W3CDTF">2026-04-13T18:47:15Z</dcterms:modified>
</cp:coreProperties>
</file>